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9" r:id="rId10"/>
    <p:sldId id="270" r:id="rId11"/>
    <p:sldId id="265" r:id="rId12"/>
    <p:sldId id="263" r:id="rId13"/>
    <p:sldId id="264" r:id="rId14"/>
    <p:sldId id="266" r:id="rId15"/>
    <p:sldId id="267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64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2FF8A-7448-4458-B9AA-F18B3BEA7930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0809-D1EA-4ED0-A414-85323A0D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97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2FF8A-7448-4458-B9AA-F18B3BEA7930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0809-D1EA-4ED0-A414-85323A0D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027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2FF8A-7448-4458-B9AA-F18B3BEA7930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0809-D1EA-4ED0-A414-85323A0D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563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2FF8A-7448-4458-B9AA-F18B3BEA7930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0809-D1EA-4ED0-A414-85323A0D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7816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2FF8A-7448-4458-B9AA-F18B3BEA7930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0809-D1EA-4ED0-A414-85323A0D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027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2FF8A-7448-4458-B9AA-F18B3BEA7930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0809-D1EA-4ED0-A414-85323A0D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075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2FF8A-7448-4458-B9AA-F18B3BEA7930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0809-D1EA-4ED0-A414-85323A0D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896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2FF8A-7448-4458-B9AA-F18B3BEA7930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0809-D1EA-4ED0-A414-85323A0D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4290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2FF8A-7448-4458-B9AA-F18B3BEA7930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0809-D1EA-4ED0-A414-85323A0D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282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2FF8A-7448-4458-B9AA-F18B3BEA7930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0809-D1EA-4ED0-A414-85323A0D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805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2FF8A-7448-4458-B9AA-F18B3BEA7930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0809-D1EA-4ED0-A414-85323A0D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413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2FF8A-7448-4458-B9AA-F18B3BEA7930}" type="datetimeFigureOut">
              <a:rPr lang="ko-KR" altLang="en-US" smtClean="0"/>
              <a:t>2020-08-11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A0809-D1EA-4ED0-A414-85323A0D9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745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mailto:hbkdk83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45" y="1506270"/>
            <a:ext cx="3975233" cy="252654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23" y="4032813"/>
            <a:ext cx="2860077" cy="2367985"/>
          </a:xfrm>
          <a:prstGeom prst="rect">
            <a:avLst/>
          </a:prstGeom>
        </p:spPr>
      </p:pic>
      <p:pic>
        <p:nvPicPr>
          <p:cNvPr id="1026" name="Picture 2" descr="Parrot Mambo Fl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9116" y="2637323"/>
            <a:ext cx="5436002" cy="3388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오른쪽 화살표 5"/>
          <p:cNvSpPr/>
          <p:nvPr/>
        </p:nvSpPr>
        <p:spPr>
          <a:xfrm rot="2095579">
            <a:off x="4864703" y="2733576"/>
            <a:ext cx="1501541" cy="15592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870383" y="3012708"/>
            <a:ext cx="1328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C Code Generation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41144" y="394636"/>
            <a:ext cx="10780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MATLAB, Simulink </a:t>
            </a:r>
            <a:r>
              <a:rPr lang="ko-KR" altLang="en-US" dirty="0" err="1" smtClean="0"/>
              <a:t>드론</a:t>
            </a:r>
            <a:r>
              <a:rPr lang="ko-KR" altLang="en-US" dirty="0" smtClean="0"/>
              <a:t> 시뮬레이션 예제인 </a:t>
            </a:r>
            <a:r>
              <a:rPr lang="en-US" altLang="ko-KR" dirty="0" err="1" smtClean="0"/>
              <a:t>asbQuadcopter</a:t>
            </a:r>
            <a:r>
              <a:rPr lang="ko-KR" altLang="en-US" dirty="0" smtClean="0"/>
              <a:t>로 </a:t>
            </a:r>
            <a:r>
              <a:rPr lang="ko-KR" altLang="en-US" dirty="0" err="1" smtClean="0"/>
              <a:t>드론</a:t>
            </a:r>
            <a:r>
              <a:rPr lang="ko-KR" altLang="en-US" dirty="0" smtClean="0"/>
              <a:t> 제어</a:t>
            </a:r>
            <a:endParaRPr lang="en-US" altLang="ko-KR" dirty="0" smtClean="0"/>
          </a:p>
          <a:p>
            <a:r>
              <a:rPr lang="en-US" altLang="ko-KR" dirty="0" smtClean="0"/>
              <a:t>PARROT Mambo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C</a:t>
            </a:r>
            <a:r>
              <a:rPr lang="ko-KR" altLang="en-US" dirty="0" smtClean="0"/>
              <a:t>코드 생성하여 실제로 비행도 가능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4086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1145" y="394636"/>
            <a:ext cx="107802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먼저 </a:t>
            </a:r>
            <a:r>
              <a:rPr lang="ko-KR" altLang="en-US" dirty="0" err="1" smtClean="0"/>
              <a:t>드론</a:t>
            </a:r>
            <a:r>
              <a:rPr lang="ko-KR" altLang="en-US" dirty="0" smtClean="0"/>
              <a:t> 모델 선정</a:t>
            </a:r>
            <a:endParaRPr lang="en-US" altLang="ko-KR" dirty="0" smtClean="0"/>
          </a:p>
          <a:p>
            <a:r>
              <a:rPr lang="ko-KR" altLang="en-US" dirty="0" smtClean="0"/>
              <a:t>논문 </a:t>
            </a:r>
            <a:r>
              <a:rPr lang="en-US" altLang="ko-KR" i="1" dirty="0" smtClean="0"/>
              <a:t>Quadrotor control: modeling, nonlinear control design, and simulation, FRANCESCO SABATINO</a:t>
            </a:r>
            <a:r>
              <a:rPr lang="ko-KR" altLang="en-US" dirty="0" smtClean="0"/>
              <a:t>에 사용된 모델 사용</a:t>
            </a:r>
            <a:endParaRPr lang="en-US" altLang="ko-KR" dirty="0" smtClean="0"/>
          </a:p>
          <a:p>
            <a:r>
              <a:rPr lang="en-US" altLang="ko-KR" dirty="0" smtClean="0"/>
              <a:t>Linearization </a:t>
            </a:r>
            <a:r>
              <a:rPr lang="ko-KR" altLang="en-US" dirty="0" smtClean="0"/>
              <a:t>하면 아래와 같다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Disturbance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d </a:t>
            </a:r>
            <a:r>
              <a:rPr lang="ko-KR" altLang="en-US" dirty="0" smtClean="0"/>
              <a:t>매트릭스 처럼 알 수 없는 외부 힘 </a:t>
            </a:r>
            <a:r>
              <a:rPr lang="en-US" altLang="ko-KR" dirty="0" smtClean="0"/>
              <a:t>6</a:t>
            </a:r>
            <a:r>
              <a:rPr lang="ko-KR" altLang="en-US" dirty="0" smtClean="0"/>
              <a:t>개</a:t>
            </a:r>
            <a:endParaRPr lang="en-US" altLang="ko-KR" dirty="0" smtClean="0"/>
          </a:p>
          <a:p>
            <a:r>
              <a:rPr lang="ko-KR" altLang="en-US" dirty="0" smtClean="0"/>
              <a:t>이대로 </a:t>
            </a:r>
            <a:r>
              <a:rPr lang="ko-KR" altLang="en-US" dirty="0" err="1" smtClean="0"/>
              <a:t>사용한건</a:t>
            </a:r>
            <a:r>
              <a:rPr lang="ko-KR" altLang="en-US" dirty="0" smtClean="0"/>
              <a:t> 아니고 </a:t>
            </a:r>
            <a:r>
              <a:rPr lang="en-US" altLang="ko-KR" dirty="0" smtClean="0"/>
              <a:t>disturbance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state</a:t>
            </a:r>
            <a:r>
              <a:rPr lang="ko-KR" altLang="en-US" dirty="0" smtClean="0"/>
              <a:t>로 추가하여 </a:t>
            </a:r>
            <a:r>
              <a:rPr lang="en-US" altLang="ko-KR" dirty="0" smtClean="0"/>
              <a:t>augmented matrix</a:t>
            </a:r>
            <a:r>
              <a:rPr lang="ko-KR" altLang="en-US" dirty="0" smtClean="0"/>
              <a:t>로 만듦</a:t>
            </a:r>
            <a:endParaRPr lang="en-US" altLang="ko-KR" dirty="0" smtClean="0"/>
          </a:p>
          <a:p>
            <a:r>
              <a:rPr lang="ko-KR" altLang="en-US" dirty="0" smtClean="0"/>
              <a:t>측정되는 신호는 </a:t>
            </a:r>
            <a:r>
              <a:rPr lang="en-US" altLang="ko-KR" dirty="0" smtClean="0"/>
              <a:t>roll, pitch, yaw, x, y, z</a:t>
            </a:r>
            <a:r>
              <a:rPr lang="ko-KR" altLang="en-US" dirty="0" smtClean="0"/>
              <a:t>로 하여 </a:t>
            </a:r>
            <a:r>
              <a:rPr lang="en-US" altLang="ko-KR" dirty="0" smtClean="0"/>
              <a:t>C matrix </a:t>
            </a:r>
            <a:r>
              <a:rPr lang="ko-KR" altLang="en-US" dirty="0" smtClean="0"/>
              <a:t>구정</a:t>
            </a:r>
            <a:endParaRPr lang="en-US" altLang="ko-KR" dirty="0" smtClean="0"/>
          </a:p>
          <a:p>
            <a:r>
              <a:rPr lang="ko-KR" altLang="en-US" dirty="0" smtClean="0"/>
              <a:t>그리고 </a:t>
            </a:r>
            <a:r>
              <a:rPr lang="en-US" altLang="ko-KR" dirty="0" smtClean="0"/>
              <a:t>Discretization. </a:t>
            </a:r>
            <a:r>
              <a:rPr lang="ko-KR" altLang="en-US" dirty="0" err="1" smtClean="0"/>
              <a:t>자세한건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MPCCtrl.m</a:t>
            </a:r>
            <a:r>
              <a:rPr lang="en-US" altLang="ko-KR" dirty="0" smtClean="0"/>
              <a:t> </a:t>
            </a:r>
            <a:r>
              <a:rPr lang="ko-KR" altLang="en-US" dirty="0" smtClean="0"/>
              <a:t>참고</a:t>
            </a:r>
            <a:endParaRPr lang="en-US" altLang="ko-KR" dirty="0" smtClean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46" y="3005479"/>
            <a:ext cx="4421104" cy="254277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818" y="3035998"/>
            <a:ext cx="2889783" cy="248173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0740" y="3136915"/>
            <a:ext cx="3104937" cy="223746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013" y="5548253"/>
            <a:ext cx="3351996" cy="628499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818" y="5786227"/>
            <a:ext cx="2228850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492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1145" y="394636"/>
            <a:ext cx="107802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State space model </a:t>
            </a:r>
            <a:r>
              <a:rPr lang="ko-KR" altLang="en-US" dirty="0" smtClean="0"/>
              <a:t>만들었으면 </a:t>
            </a:r>
            <a:r>
              <a:rPr lang="en-US" altLang="ko-KR" dirty="0" smtClean="0"/>
              <a:t>observer </a:t>
            </a:r>
            <a:r>
              <a:rPr lang="ko-KR" altLang="en-US" dirty="0" smtClean="0"/>
              <a:t>설계</a:t>
            </a:r>
            <a:endParaRPr lang="en-US" altLang="ko-KR" dirty="0" smtClean="0"/>
          </a:p>
          <a:p>
            <a:r>
              <a:rPr lang="en-US" altLang="ko-KR" dirty="0" smtClean="0"/>
              <a:t>Observer</a:t>
            </a:r>
            <a:r>
              <a:rPr lang="ko-KR" altLang="en-US" dirty="0" smtClean="0"/>
              <a:t>에 사용된 모델은 </a:t>
            </a:r>
            <a:r>
              <a:rPr lang="en-US" altLang="ko-KR" dirty="0" err="1" smtClean="0"/>
              <a:t>disturbanc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Augmented </a:t>
            </a:r>
            <a:r>
              <a:rPr lang="ko-KR" altLang="en-US" dirty="0" smtClean="0"/>
              <a:t>시켜 </a:t>
            </a:r>
            <a:r>
              <a:rPr lang="en-US" altLang="ko-KR" dirty="0" smtClean="0"/>
              <a:t>state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18</a:t>
            </a:r>
            <a:r>
              <a:rPr lang="ko-KR" altLang="en-US" dirty="0" smtClean="0"/>
              <a:t>개인 모델 사용</a:t>
            </a:r>
            <a:endParaRPr lang="en-US" altLang="ko-KR" dirty="0" smtClean="0"/>
          </a:p>
          <a:p>
            <a:r>
              <a:rPr lang="en-US" altLang="ko-KR" dirty="0" err="1" smtClean="0"/>
              <a:t>Kalmanfilter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사용하여 </a:t>
            </a:r>
            <a:r>
              <a:rPr lang="en-US" altLang="ko-KR" dirty="0" smtClean="0"/>
              <a:t>state estimation </a:t>
            </a:r>
            <a:r>
              <a:rPr lang="ko-KR" altLang="en-US" dirty="0" smtClean="0"/>
              <a:t>함</a:t>
            </a:r>
            <a:endParaRPr lang="en-US" altLang="ko-KR" dirty="0"/>
          </a:p>
        </p:txBody>
      </p:sp>
      <p:sp>
        <p:nvSpPr>
          <p:cNvPr id="2" name="직사각형 1"/>
          <p:cNvSpPr/>
          <p:nvPr/>
        </p:nvSpPr>
        <p:spPr>
          <a:xfrm>
            <a:off x="457200" y="1412517"/>
            <a:ext cx="404308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Ac = [0 0 0 1 0 0 0 0 0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1 0 0 0 0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1 0 0 0 0 0 0 0 0 0 0 0 0;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0 0 0 0 0 0 0 0 0 0 0 0 0 0 0 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1/</a:t>
            </a:r>
            <a:r>
              <a:rPr lang="en-US" altLang="ko-KR" sz="10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Ixx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0 0 0 0 0 0 0 0 0 0 0 0 0 0 0 0 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1/</a:t>
            </a:r>
            <a:r>
              <a:rPr lang="en-US" altLang="ko-KR" sz="10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Iyy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0 0 0 0 0 0 0 0 0 0 0 0 0 0 0 0 0 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1/</a:t>
            </a:r>
            <a:r>
              <a:rPr lang="en-US" altLang="ko-KR" sz="10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Izz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0 -g 0 0 0 0 0 0 0 0 0 0 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1/mass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g 0 0 0 0 0 0 0 0 0 0 0 0 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1/mass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0 0 0 0 0 0 0 0 0 0 0 0 0 0 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1/mass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0 1 0 0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0 0 1 0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0 0 0 1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0 0 0 0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0 0 0 0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0 0 0 0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0 0 0 0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0 0 0 0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0 0 0 0 0 0 0 0 0 0 0 0 0];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5056099" y="1417575"/>
            <a:ext cx="151503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Bc = [0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0 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1/</a:t>
            </a:r>
            <a:r>
              <a:rPr lang="en-US" altLang="ko-KR" sz="10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Ixx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0 0 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1/</a:t>
            </a:r>
            <a:r>
              <a:rPr lang="en-US" altLang="ko-KR" sz="10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Iyy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0 0 0 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1/</a:t>
            </a:r>
            <a:r>
              <a:rPr lang="en-US" altLang="ko-KR" sz="10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Izz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en-US" altLang="ko-KR" sz="1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0;</a:t>
            </a:r>
          </a:p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-</a:t>
            </a:r>
            <a:r>
              <a:rPr lang="en-US" altLang="ko-KR" sz="1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1/mass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0];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888376" y="1412517"/>
            <a:ext cx="395343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Cc = [1 0 0 0 0 0 0 0 0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1 0 0 0 0 0 0 0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1 0 0 0 0 0 0 0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0 0 0 0 1 0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0 0 0 0 0 1 0 0 0 0 0 0 0;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ko-KR" sz="1000" dirty="0">
                <a:solidFill>
                  <a:srgbClr val="000000"/>
                </a:solidFill>
                <a:latin typeface="Courier New" panose="02070309020205020404" pitchFamily="49" charset="0"/>
              </a:rPr>
              <a:t>0 0 0 0 0 0 0 0 0 0 0 1 0 0 0 0 0 0];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1145" y="4570676"/>
            <a:ext cx="1078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위의 </a:t>
            </a:r>
            <a:r>
              <a:rPr lang="en-US" altLang="ko-KR" dirty="0" smtClean="0"/>
              <a:t>Continuous model</a:t>
            </a:r>
            <a:r>
              <a:rPr lang="ko-KR" altLang="en-US" dirty="0" smtClean="0"/>
              <a:t>을</a:t>
            </a:r>
            <a:r>
              <a:rPr lang="en-US" altLang="ko-KR" dirty="0" smtClean="0"/>
              <a:t> discretization </a:t>
            </a:r>
            <a:r>
              <a:rPr lang="ko-KR" altLang="en-US" dirty="0" smtClean="0"/>
              <a:t>함</a:t>
            </a:r>
            <a:endParaRPr lang="en-US" altLang="ko-KR" dirty="0"/>
          </a:p>
        </p:txBody>
      </p:sp>
      <p:sp>
        <p:nvSpPr>
          <p:cNvPr id="5" name="직사각형 4"/>
          <p:cNvSpPr/>
          <p:nvPr/>
        </p:nvSpPr>
        <p:spPr>
          <a:xfrm>
            <a:off x="741145" y="501129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Dc = 0;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csys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ss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(Ac, </a:t>
            </a:r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Bc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 Cc, Dc);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dsys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= c2d(</a:t>
            </a:r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csys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Ts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89240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1145" y="394636"/>
            <a:ext cx="4717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Simulink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Kalman</a:t>
            </a:r>
            <a:r>
              <a:rPr lang="en-US" altLang="ko-KR" dirty="0" smtClean="0"/>
              <a:t> filter block </a:t>
            </a:r>
            <a:r>
              <a:rPr lang="ko-KR" altLang="en-US" dirty="0" smtClean="0"/>
              <a:t>사용</a:t>
            </a:r>
            <a:endParaRPr lang="en-US" altLang="ko-KR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77" y="763968"/>
            <a:ext cx="3908727" cy="577327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5199529" y="1296302"/>
            <a:ext cx="264458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Q(1,1) = 20;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Q(2,2)= 20;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Q(3,3)= 10;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Q(7,7) = 10;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Q(8,8) = 10;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Q(9,9) = 10;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Q(10,10) = 10;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Q(11,11) = 10;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Q(12,12) = 10;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Q(13,13) = 200;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Q(14,14) = 200;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Q(15,15) = 1;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Q(16,16) = 0.01;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Q(17,17) = 0.01;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Q(18,18) = 0.01;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7861940" y="1296302"/>
            <a:ext cx="36595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Ro 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= </a:t>
            </a:r>
            <a:r>
              <a:rPr lang="en-US" altLang="ko-KR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eye(6);</a:t>
            </a:r>
            <a:endParaRPr lang="en-US" altLang="ko-KR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99529" y="394636"/>
            <a:ext cx="6659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시험하고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신호 분석해서 튜닝</a:t>
            </a:r>
            <a:endParaRPr lang="en-US" altLang="ko-KR" dirty="0" smtClean="0"/>
          </a:p>
          <a:p>
            <a:r>
              <a:rPr lang="ko-KR" altLang="en-US" dirty="0" smtClean="0"/>
              <a:t>주로 </a:t>
            </a:r>
            <a:r>
              <a:rPr lang="en-US" altLang="ko-KR" dirty="0" smtClean="0"/>
              <a:t>Roll, Pitch torque disturbance</a:t>
            </a:r>
            <a:r>
              <a:rPr lang="ko-KR" altLang="en-US" dirty="0" smtClean="0"/>
              <a:t>를 빠르게 추종하도록 튜닝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94287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1145" y="367654"/>
            <a:ext cx="1093090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/>
              <a:t>MPC </a:t>
            </a:r>
            <a:r>
              <a:rPr lang="ko-KR" altLang="en-US" sz="2800" dirty="0" smtClean="0"/>
              <a:t>제어</a:t>
            </a:r>
            <a:endParaRPr lang="en-US" altLang="ko-KR" sz="2800" dirty="0" smtClean="0"/>
          </a:p>
          <a:p>
            <a:r>
              <a:rPr lang="en-US" altLang="ko-KR" dirty="0" smtClean="0"/>
              <a:t>Cost function </a:t>
            </a:r>
            <a:r>
              <a:rPr lang="ko-KR" altLang="en-US" dirty="0" smtClean="0"/>
              <a:t>정의</a:t>
            </a:r>
            <a:endParaRPr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41145" y="1083869"/>
                <a:ext cx="9782486" cy="20328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lim>
                          </m:limLow>
                        </m:fNam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𝑠𝑠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 )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𝑠𝑠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 )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𝑠𝑠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 )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𝑚𝑝𝑐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𝑠𝑠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 )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nary>
                          <m:nary>
                            <m:naryPr>
                              <m:chr m:val="∑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altLang="ko-KR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𝑠𝑢𝑏𝑗𝑒𝑐𝑡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 1, ⋯,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altLang="ko-KR" b="0" dirty="0" smtClean="0">
                  <a:ea typeface="Cambria Math" panose="02040503050406030204" pitchFamily="18" charset="0"/>
                </a:endParaRPr>
              </a:p>
              <a:p>
                <a:r>
                  <a:rPr lang="en-US" altLang="ko-KR" dirty="0" smtClean="0"/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 1, ⋯,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endParaRPr lang="en-US" altLang="ko-KR" dirty="0" smtClean="0"/>
              </a:p>
              <a:p>
                <a:r>
                  <a:rPr lang="en-US" altLang="ko-KR" dirty="0"/>
                  <a:t> </a:t>
                </a:r>
                <a:r>
                  <a:rPr lang="en-US" altLang="ko-KR" dirty="0" smtClean="0"/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+1,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=0, 1,⋯,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n-US" altLang="ko-KR" dirty="0" smtClean="0"/>
              </a:p>
              <a:p>
                <a:r>
                  <a:rPr lang="en-US" altLang="ko-KR" dirty="0"/>
                  <a:t> </a:t>
                </a:r>
                <a:r>
                  <a:rPr lang="en-US" altLang="ko-KR" dirty="0" smtClean="0"/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𝑚𝑝𝑐</m:t>
                        </m:r>
                      </m:sub>
                    </m:sSub>
                  </m:oMath>
                </a14:m>
                <a:endParaRPr lang="en-US" altLang="ko-KR" dirty="0" smtClean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45" y="1083869"/>
                <a:ext cx="9782486" cy="2032801"/>
              </a:xfrm>
              <a:prstGeom prst="rect">
                <a:avLst/>
              </a:prstGeom>
              <a:blipFill rotWithShape="0">
                <a:blip r:embed="rId2"/>
                <a:stretch>
                  <a:fillRect l="-1122" b="-30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직사각형 13"/>
          <p:cNvSpPr/>
          <p:nvPr/>
        </p:nvSpPr>
        <p:spPr>
          <a:xfrm>
            <a:off x="741145" y="3088007"/>
            <a:ext cx="248614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Q_mpc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(1)= 100000;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Q_mpc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(2)= 100000;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Q_mpc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(3)= 1000;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Q_mpc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(4)= 10;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Q_mpc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(5)= 10;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Q_mpc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(6)= 100;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Q_mpc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(7)=50;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Q_mpc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(8)=50;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Q_mpc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(9)=10;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Q_mpc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(10)= 80;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Q_mpc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(11)= 80;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Q_mpc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(12)= 100;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Q_mpc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Q_mpc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';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3872755" y="3804222"/>
            <a:ext cx="262665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Ru_mpc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(1) = 1;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Ru_mpc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(2) = 100;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Ru_mpc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(3) = 100;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Ru_mpc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(4) = 10;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Ru_mpc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Ru_mpc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';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7333130" y="3804222"/>
            <a:ext cx="266544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Rdu_mpc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(1) = 0;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Rdu_mpc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(2) = 0;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Rdu_mpc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(3) = 0;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Rdu_mpc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(4) = 0;</a:t>
            </a:r>
          </a:p>
          <a:p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Rdu_mpc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ko-KR" dirty="0" err="1">
                <a:solidFill>
                  <a:srgbClr val="000000"/>
                </a:solidFill>
                <a:latin typeface="Courier New" panose="02070309020205020404" pitchFamily="49" charset="0"/>
              </a:rPr>
              <a:t>Rdu_mpc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';</a:t>
            </a:r>
          </a:p>
        </p:txBody>
      </p:sp>
      <p:cxnSp>
        <p:nvCxnSpPr>
          <p:cNvPr id="3" name="직선 화살표 연결선 2"/>
          <p:cNvCxnSpPr>
            <a:stCxn id="6" idx="1"/>
          </p:cNvCxnSpPr>
          <p:nvPr/>
        </p:nvCxnSpPr>
        <p:spPr>
          <a:xfrm flipH="1">
            <a:off x="8928848" y="2870344"/>
            <a:ext cx="519952" cy="129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448800" y="2608734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0070C0"/>
                </a:solidFill>
              </a:rPr>
              <a:t>Stability </a:t>
            </a:r>
            <a:r>
              <a:rPr lang="ko-KR" altLang="en-US" sz="1400" dirty="0" smtClean="0">
                <a:solidFill>
                  <a:srgbClr val="0070C0"/>
                </a:solidFill>
              </a:rPr>
              <a:t>보장을</a:t>
            </a:r>
            <a:r>
              <a:rPr lang="en-US" altLang="ko-KR" sz="1400" dirty="0" smtClean="0">
                <a:solidFill>
                  <a:srgbClr val="0070C0"/>
                </a:solidFill>
              </a:rPr>
              <a:t> </a:t>
            </a:r>
            <a:r>
              <a:rPr lang="ko-KR" altLang="en-US" sz="1400" dirty="0" smtClean="0">
                <a:solidFill>
                  <a:srgbClr val="0070C0"/>
                </a:solidFill>
              </a:rPr>
              <a:t>위한 </a:t>
            </a:r>
            <a:r>
              <a:rPr lang="en-US" altLang="ko-KR" sz="1400" dirty="0" smtClean="0">
                <a:solidFill>
                  <a:srgbClr val="0070C0"/>
                </a:solidFill>
              </a:rPr>
              <a:t>p step</a:t>
            </a:r>
            <a:r>
              <a:rPr lang="ko-KR" altLang="en-US" sz="1400" dirty="0">
                <a:solidFill>
                  <a:srgbClr val="0070C0"/>
                </a:solidFill>
              </a:rPr>
              <a:t> </a:t>
            </a:r>
            <a:r>
              <a:rPr lang="ko-KR" altLang="en-US" sz="1400" dirty="0" smtClean="0">
                <a:solidFill>
                  <a:srgbClr val="0070C0"/>
                </a:solidFill>
              </a:rPr>
              <a:t>이후의 가중치</a:t>
            </a:r>
            <a:endParaRPr lang="ko-KR" altLang="en-US" sz="1400" dirty="0">
              <a:solidFill>
                <a:srgbClr val="0070C0"/>
              </a:solidFill>
            </a:endParaRPr>
          </a:p>
        </p:txBody>
      </p:sp>
      <p:cxnSp>
        <p:nvCxnSpPr>
          <p:cNvPr id="12" name="직선 화살표 연결선 11"/>
          <p:cNvCxnSpPr/>
          <p:nvPr/>
        </p:nvCxnSpPr>
        <p:spPr>
          <a:xfrm flipH="1">
            <a:off x="6329084" y="2538650"/>
            <a:ext cx="519952" cy="129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49036" y="2264958"/>
            <a:ext cx="274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rgbClr val="0070C0"/>
                </a:solidFill>
              </a:rPr>
              <a:t>모델을 만족해야 한다</a:t>
            </a:r>
            <a:r>
              <a:rPr lang="en-US" altLang="ko-KR" sz="1400" dirty="0" smtClean="0">
                <a:solidFill>
                  <a:srgbClr val="0070C0"/>
                </a:solidFill>
              </a:rPr>
              <a:t>.</a:t>
            </a:r>
            <a:endParaRPr lang="ko-KR" altLang="en-US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125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1145" y="394636"/>
            <a:ext cx="10930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MPC</a:t>
            </a:r>
            <a:r>
              <a:rPr lang="ko-KR" altLang="en-US" dirty="0" smtClean="0"/>
              <a:t>를 위하여 </a:t>
            </a:r>
            <a:r>
              <a:rPr lang="en-US" altLang="ko-KR" dirty="0" smtClean="0"/>
              <a:t>P</a:t>
            </a:r>
            <a:r>
              <a:rPr lang="ko-KR" altLang="en-US" dirty="0"/>
              <a:t> </a:t>
            </a:r>
            <a:r>
              <a:rPr lang="en-US" altLang="ko-KR" dirty="0" smtClean="0"/>
              <a:t>step </a:t>
            </a:r>
            <a:r>
              <a:rPr lang="ko-KR" altLang="en-US" dirty="0" smtClean="0"/>
              <a:t>까지 미래 모델</a:t>
            </a:r>
            <a:endParaRPr lang="en-US" altLang="ko-KR" dirty="0" smtClean="0"/>
          </a:p>
          <a:p>
            <a:r>
              <a:rPr lang="en-US" altLang="ko-KR" dirty="0" smtClean="0"/>
              <a:t>P : </a:t>
            </a:r>
            <a:r>
              <a:rPr lang="ko-KR" altLang="en-US" dirty="0" err="1" smtClean="0"/>
              <a:t>드론</a:t>
            </a:r>
            <a:r>
              <a:rPr lang="ko-KR" altLang="en-US" dirty="0" smtClean="0"/>
              <a:t> 상태 예측 구간 </a:t>
            </a:r>
            <a:r>
              <a:rPr lang="en-US" altLang="ko-KR" dirty="0" smtClean="0"/>
              <a:t>(Prediction horizon), m : </a:t>
            </a:r>
            <a:r>
              <a:rPr lang="ko-KR" altLang="en-US" dirty="0" smtClean="0"/>
              <a:t>입력 예측 </a:t>
            </a:r>
            <a:r>
              <a:rPr lang="en-US" altLang="ko-KR" dirty="0" smtClean="0"/>
              <a:t>(Control horizon)</a:t>
            </a:r>
            <a:endParaRPr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838129" y="1104073"/>
                <a:ext cx="3662798" cy="1472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ko-KR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ko-KR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ko-KR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29" y="1104073"/>
                <a:ext cx="3662798" cy="1472519"/>
              </a:xfrm>
              <a:prstGeom prst="rect">
                <a:avLst/>
              </a:prstGeom>
              <a:blipFill rotWithShape="0">
                <a:blip r:embed="rId2"/>
                <a:stretch>
                  <a:fillRect l="-2163" t="-4545" r="-1830" b="-28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41145" y="3109184"/>
                <a:ext cx="10930902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ko-KR" altLang="en-US" dirty="0" smtClean="0"/>
                  <a:t>을</a:t>
                </a:r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대입하여 정리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45" y="3109184"/>
                <a:ext cx="10930902" cy="390748"/>
              </a:xfrm>
              <a:prstGeom prst="rect">
                <a:avLst/>
              </a:prstGeom>
              <a:blipFill rotWithShape="0">
                <a:blip r:embed="rId3"/>
                <a:stretch>
                  <a:fillRect t="-9375" b="-171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38129" y="3542476"/>
                <a:ext cx="6989286" cy="11528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ko-KR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ko-KR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𝐴𝐵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ko-KR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r>
                  <a:rPr lang="en-US" altLang="ko-KR" dirty="0" smtClean="0">
                    <a:ea typeface="Cambria Math" panose="02040503050406030204" pitchFamily="18" charset="0"/>
                  </a:rPr>
                  <a:t/>
                </a:r>
                <a:br>
                  <a:rPr lang="en-US" altLang="ko-KR" dirty="0" smtClean="0">
                    <a:ea typeface="Cambria Math" panose="02040503050406030204" pitchFamily="18" charset="0"/>
                  </a:rPr>
                </a:br>
                <a:endParaRPr lang="ko-KR" alt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29" y="3542476"/>
                <a:ext cx="6989286" cy="1152880"/>
              </a:xfrm>
              <a:prstGeom prst="rect">
                <a:avLst/>
              </a:prstGeom>
              <a:blipFill rotWithShape="0">
                <a:blip r:embed="rId4"/>
                <a:stretch>
                  <a:fillRect l="-872" t="-5820" r="-523" b="-15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293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1145" y="394636"/>
            <a:ext cx="10930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앞의 식을 </a:t>
            </a:r>
            <a:r>
              <a:rPr lang="en-US" altLang="ko-KR" dirty="0" smtClean="0"/>
              <a:t>Matrix </a:t>
            </a:r>
            <a:r>
              <a:rPr lang="ko-KR" altLang="en-US" dirty="0" smtClean="0"/>
              <a:t>형태로 변경</a:t>
            </a:r>
            <a:endParaRPr lang="en-US" altLang="ko-KR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41145" y="763968"/>
                <a:ext cx="6989286" cy="11528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ko-KR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ko-KR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𝐴𝐵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ko-KR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r>
                  <a:rPr lang="en-US" altLang="ko-KR" dirty="0" smtClean="0">
                    <a:ea typeface="Cambria Math" panose="02040503050406030204" pitchFamily="18" charset="0"/>
                  </a:rPr>
                  <a:t/>
                </a:r>
                <a:br>
                  <a:rPr lang="en-US" altLang="ko-KR" dirty="0" smtClean="0">
                    <a:ea typeface="Cambria Math" panose="02040503050406030204" pitchFamily="18" charset="0"/>
                  </a:rPr>
                </a:br>
                <a:endParaRPr lang="ko-KR" alt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45" y="763968"/>
                <a:ext cx="6989286" cy="1152880"/>
              </a:xfrm>
              <a:prstGeom prst="rect">
                <a:avLst/>
              </a:prstGeom>
              <a:blipFill rotWithShape="0">
                <a:blip r:embed="rId2"/>
                <a:stretch>
                  <a:fillRect l="-873" t="-5820" r="-524" b="-15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41145" y="2625437"/>
                <a:ext cx="8989769" cy="27537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+2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+3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altLang="ko-KR" dirty="0" smtClean="0"/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mr>
                              <m:mr>
                                <m:e>
                                  <m:sSup>
                                    <m:sSupPr>
                                      <m:ctrlPr>
                                        <a:rPr lang="en-US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mr>
                              <m:mr>
                                <m:e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</m:mr>
                            </m:m>
                          </m:e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e>
                        </m:eqArr>
                      </m:e>
                    </m:d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p>
                                    <m:sSup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e>
                                  <m:r>
                                    <a:rPr lang="ko-KR" altLang="en-US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e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sup>
                                  </m:s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sup>
                                  </m:s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eqArr>
                            </m:e>
                          </m:mr>
                        </m: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ko-KR" altLang="en-US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ko-KR" altLang="en-US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ko-KR" altLang="en-US" i="1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ko-KR" altLang="en-US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d>
                                    <m:d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p>
                                      </m:s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+⋯+1</m:t>
                                      </m:r>
                                    </m:e>
                                  </m:d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eqArr>
                            </m:e>
                          </m:mr>
                        </m: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+2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+3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mr>
                        </m:m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en-US" altLang="ko-KR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  <m:e>
                              <m:sSup>
                                <m:sSup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  <m:e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+…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ko-KR" dirty="0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45" y="2625437"/>
                <a:ext cx="8989769" cy="275370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아래쪽 화살표 3"/>
          <p:cNvSpPr/>
          <p:nvPr/>
        </p:nvSpPr>
        <p:spPr>
          <a:xfrm>
            <a:off x="4308764" y="2124667"/>
            <a:ext cx="1385454" cy="4522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아래쪽 화살표 11"/>
          <p:cNvSpPr/>
          <p:nvPr/>
        </p:nvSpPr>
        <p:spPr>
          <a:xfrm>
            <a:off x="4308764" y="5519031"/>
            <a:ext cx="1385454" cy="4522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741145" y="6074999"/>
            <a:ext cx="10930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Prediction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902454" y="6074999"/>
                <a:ext cx="2131609" cy="2845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𝐹</m:t>
                      </m:r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𝐺𝑈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</m:oMath>
                  </m:oMathPara>
                </a14:m>
                <a:r>
                  <a:rPr lang="en-US" altLang="ko-KR" dirty="0" smtClean="0">
                    <a:ea typeface="Cambria Math" panose="02040503050406030204" pitchFamily="18" charset="0"/>
                  </a:rPr>
                  <a:t/>
                </a:r>
                <a:br>
                  <a:rPr lang="en-US" altLang="ko-KR" dirty="0" smtClean="0">
                    <a:ea typeface="Cambria Math" panose="02040503050406030204" pitchFamily="18" charset="0"/>
                  </a:rPr>
                </a:br>
                <a:endParaRPr lang="ko-KR" alt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454" y="6074999"/>
                <a:ext cx="2131609" cy="284501"/>
              </a:xfrm>
              <a:prstGeom prst="rect">
                <a:avLst/>
              </a:prstGeom>
              <a:blipFill rotWithShape="0">
                <a:blip r:embed="rId4"/>
                <a:stretch>
                  <a:fillRect l="-3714" t="-17391" r="-16000" b="-217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185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1145" y="394636"/>
            <a:ext cx="10930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Cost function</a:t>
            </a:r>
            <a:r>
              <a:rPr lang="ko-KR" altLang="en-US" dirty="0" smtClean="0"/>
              <a:t>을 행렬로 표현하여 </a:t>
            </a:r>
            <a:r>
              <a:rPr lang="en-US" altLang="ko-KR" dirty="0" smtClean="0"/>
              <a:t>prediction</a:t>
            </a:r>
            <a:r>
              <a:rPr lang="ko-KR" altLang="en-US" dirty="0"/>
              <a:t> </a:t>
            </a:r>
            <a:r>
              <a:rPr lang="en-US" altLang="ko-KR" dirty="0" smtClean="0"/>
              <a:t>model</a:t>
            </a:r>
            <a:r>
              <a:rPr lang="ko-KR" altLang="en-US" dirty="0" smtClean="0"/>
              <a:t>을 대입 </a:t>
            </a:r>
            <a:endParaRPr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41145" y="763968"/>
                <a:ext cx="9782486" cy="20328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lim>
                          </m:limLow>
                        </m:fNam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𝑠𝑠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 )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𝑠𝑠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 )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𝑠𝑠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 )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𝑚𝑝𝑐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𝑠𝑠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 )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nary>
                          <m:nary>
                            <m:naryPr>
                              <m:chr m:val="∑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altLang="ko-KR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𝑠𝑢𝑏𝑗𝑒𝑐𝑡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 1, ⋯,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altLang="ko-KR" b="0" dirty="0" smtClean="0">
                  <a:ea typeface="Cambria Math" panose="02040503050406030204" pitchFamily="18" charset="0"/>
                </a:endParaRPr>
              </a:p>
              <a:p>
                <a:r>
                  <a:rPr lang="en-US" altLang="ko-KR" dirty="0" smtClean="0"/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 1, ⋯,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endParaRPr lang="en-US" altLang="ko-KR" dirty="0" smtClean="0"/>
              </a:p>
              <a:p>
                <a:r>
                  <a:rPr lang="en-US" altLang="ko-KR" dirty="0"/>
                  <a:t> </a:t>
                </a:r>
                <a:r>
                  <a:rPr lang="en-US" altLang="ko-KR" dirty="0" smtClean="0"/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+1,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=0, 1,⋯,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n-US" altLang="ko-KR" dirty="0" smtClean="0"/>
              </a:p>
              <a:p>
                <a:r>
                  <a:rPr lang="en-US" altLang="ko-KR" dirty="0"/>
                  <a:t> </a:t>
                </a:r>
                <a:r>
                  <a:rPr lang="en-US" altLang="ko-KR" dirty="0" smtClean="0"/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𝑚𝑝𝑐</m:t>
                        </m:r>
                      </m:sub>
                    </m:sSub>
                  </m:oMath>
                </a14:m>
                <a:endParaRPr lang="en-US" altLang="ko-KR" dirty="0" smtClean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45" y="763968"/>
                <a:ext cx="9782486" cy="2032801"/>
              </a:xfrm>
              <a:prstGeom prst="rect">
                <a:avLst/>
              </a:prstGeom>
              <a:blipFill rotWithShape="0">
                <a:blip r:embed="rId2"/>
                <a:stretch>
                  <a:fillRect l="-1122" b="-26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아래쪽 화살표 8"/>
          <p:cNvSpPr/>
          <p:nvPr/>
        </p:nvSpPr>
        <p:spPr>
          <a:xfrm>
            <a:off x="4641273" y="2893754"/>
            <a:ext cx="1385454" cy="4522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741145" y="3346033"/>
                <a:ext cx="11531042" cy="11113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lim>
                          </m:limLow>
                        </m:fNam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𝑠𝑠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b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 )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𝑠𝑠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b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 )+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</m:s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𝑠𝑠</m:t>
                                      </m:r>
                                    </m:sub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𝑠𝑠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)+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d>
                                    <m:d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</m:sSub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d>
                                    <m:d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</m:sSub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altLang="ko-KR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𝑠𝑢𝑏𝑗𝑒𝑐𝑡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𝑐𝑜𝑛</m:t>
                          </m:r>
                        </m:sub>
                      </m:sSub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𝑐𝑜𝑛</m:t>
                          </m:r>
                        </m:sub>
                      </m:sSub>
                    </m:oMath>
                  </m:oMathPara>
                </a14:m>
                <a:endParaRPr lang="en-US" altLang="ko-KR" dirty="0" smtClean="0"/>
              </a:p>
              <a:p>
                <a:pPr/>
                <a:r>
                  <a:rPr lang="en-US" altLang="ko-KR" dirty="0" smtClean="0"/>
                  <a:t>          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𝐹</m:t>
                    </m:r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𝐺𝑈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endParaRPr lang="en-US" altLang="ko-KR" dirty="0" smtClean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45" y="3346033"/>
                <a:ext cx="11531042" cy="1111394"/>
              </a:xfrm>
              <a:prstGeom prst="rect">
                <a:avLst/>
              </a:prstGeom>
              <a:blipFill rotWithShape="0">
                <a:blip r:embed="rId3"/>
                <a:stretch>
                  <a:fillRect l="-952" b="-32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7167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41145" y="394636"/>
                <a:ext cx="10930902" cy="376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smtClean="0"/>
                  <a:t>Equality constraint(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ko-KR" dirty="0" smtClean="0"/>
                  <a:t>)</a:t>
                </a:r>
                <a:r>
                  <a:rPr lang="ko-KR" altLang="en-US" dirty="0" smtClean="0"/>
                  <a:t>를</a:t>
                </a:r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대입 후</a:t>
                </a:r>
                <a:r>
                  <a:rPr lang="en-US" altLang="ko-KR" dirty="0" smtClean="0"/>
                  <a:t>,</a:t>
                </a:r>
                <a:r>
                  <a:rPr lang="ko-KR" altLang="en-US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ko-KR" altLang="en-US" dirty="0" smtClean="0"/>
                  <a:t>에 대한 식으로 전개</a:t>
                </a:r>
                <a:endParaRPr lang="en-US" altLang="ko-KR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45" y="394636"/>
                <a:ext cx="10930902" cy="376770"/>
              </a:xfrm>
              <a:prstGeom prst="rect">
                <a:avLst/>
              </a:prstGeom>
              <a:blipFill rotWithShape="0">
                <a:blip r:embed="rId2"/>
                <a:stretch>
                  <a:fillRect l="-502" t="-8065" b="-241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41145" y="936208"/>
                <a:ext cx="11231780" cy="11113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lim>
                          </m:limLow>
                        </m:fNam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𝑠𝑠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b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 )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𝑠𝑠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b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 )+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</m:s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𝑠𝑠</m:t>
                                      </m:r>
                                    </m:sub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𝑠𝑠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)+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d>
                                    <m:d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</m:sSub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d>
                                    <m:d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</m:sSub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altLang="ko-KR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𝑠𝑢𝑏𝑗𝑒𝑐𝑡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𝑐𝑜𝑛</m:t>
                          </m:r>
                        </m:sub>
                      </m:sSub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𝑐𝑜𝑛</m:t>
                          </m:r>
                        </m:sub>
                      </m:sSub>
                    </m:oMath>
                  </m:oMathPara>
                </a14:m>
                <a:endParaRPr lang="en-US" altLang="ko-KR" dirty="0" smtClean="0"/>
              </a:p>
              <a:p>
                <a:pPr/>
                <a:r>
                  <a:rPr lang="en-US" altLang="ko-KR" dirty="0" smtClean="0"/>
                  <a:t>          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𝐹</m:t>
                    </m:r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𝐺𝑈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endParaRPr lang="en-US" altLang="ko-KR" dirty="0" smtClean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45" y="936208"/>
                <a:ext cx="11231780" cy="1111394"/>
              </a:xfrm>
              <a:prstGeom prst="rect">
                <a:avLst/>
              </a:prstGeom>
              <a:blipFill rotWithShape="0">
                <a:blip r:embed="rId3"/>
                <a:stretch>
                  <a:fillRect l="-977" b="-32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아래쪽 화살표 10"/>
          <p:cNvSpPr/>
          <p:nvPr/>
        </p:nvSpPr>
        <p:spPr>
          <a:xfrm>
            <a:off x="4660323" y="2341304"/>
            <a:ext cx="1385454" cy="4522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741145" y="3087285"/>
                <a:ext cx="9730817" cy="8107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lim>
                          </m:limLow>
                        </m:fNam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begChr m:val="{"/>
                              <m:endChr m:val="}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sub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∆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</m:e>
                              </m:d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+{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func>
                      <m:acc>
                        <m:accPr>
                          <m:chr m:val="̂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ko-KR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𝑠𝑢𝑏𝑗𝑒𝑐𝑡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𝑐𝑜𝑛</m:t>
                          </m:r>
                        </m:sub>
                      </m:sSub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𝑐𝑜𝑛</m:t>
                          </m:r>
                        </m:sub>
                      </m:sSub>
                    </m:oMath>
                  </m:oMathPara>
                </a14:m>
                <a:endParaRPr lang="en-US" altLang="ko-KR" dirty="0" smtClean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45" y="3087285"/>
                <a:ext cx="9730817" cy="810735"/>
              </a:xfrm>
              <a:prstGeom prst="rect">
                <a:avLst/>
              </a:prstGeom>
              <a:blipFill rotWithShape="0">
                <a:blip r:embed="rId4"/>
                <a:stretch>
                  <a:fillRect l="-1128" b="-112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2439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1145" y="394636"/>
            <a:ext cx="10930902" cy="376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이제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이걸 </a:t>
            </a:r>
            <a:r>
              <a:rPr lang="en-US" altLang="ko-KR" dirty="0" err="1" smtClean="0"/>
              <a:t>QPSolver</a:t>
            </a:r>
            <a:r>
              <a:rPr lang="ko-KR" altLang="en-US" dirty="0" smtClean="0"/>
              <a:t>로 풀고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첫번쨰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입력값을</a:t>
            </a:r>
            <a:r>
              <a:rPr lang="ko-KR" altLang="en-US" dirty="0" smtClean="0"/>
              <a:t> 사용하여 제어한다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45" y="866774"/>
            <a:ext cx="10177307" cy="5829181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8982075" y="1390650"/>
            <a:ext cx="1209675" cy="25050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807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41145" y="394636"/>
            <a:ext cx="10930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전체 제어기는 이렇다</a:t>
            </a:r>
            <a:r>
              <a:rPr lang="en-US" altLang="ko-KR" dirty="0" smtClean="0"/>
              <a:t>.</a:t>
            </a:r>
            <a:endParaRPr lang="en-US" altLang="ko-KR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4" y="1433837"/>
            <a:ext cx="11787343" cy="495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057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1145" y="394636"/>
            <a:ext cx="109309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이제</a:t>
            </a:r>
            <a:r>
              <a:rPr lang="en-US" altLang="ko-KR" dirty="0" smtClean="0"/>
              <a:t> </a:t>
            </a:r>
            <a:r>
              <a:rPr lang="ko-KR" altLang="en-US" dirty="0" smtClean="0"/>
              <a:t>다 되었지만</a:t>
            </a:r>
            <a:r>
              <a:rPr lang="en-US" altLang="ko-KR" dirty="0" smtClean="0"/>
              <a:t>…</a:t>
            </a:r>
          </a:p>
          <a:p>
            <a:r>
              <a:rPr lang="ko-KR" altLang="en-US" dirty="0" smtClean="0"/>
              <a:t>내가 원하는 건 </a:t>
            </a:r>
            <a:r>
              <a:rPr lang="ko-KR" altLang="en-US" dirty="0" err="1" smtClean="0"/>
              <a:t>드론이</a:t>
            </a:r>
            <a:r>
              <a:rPr lang="ko-KR" altLang="en-US" dirty="0" smtClean="0"/>
              <a:t> 날아서 </a:t>
            </a:r>
            <a:r>
              <a:rPr lang="en-US" altLang="ko-KR" dirty="0" smtClean="0"/>
              <a:t>hovering</a:t>
            </a:r>
            <a:r>
              <a:rPr lang="ko-KR" altLang="en-US" dirty="0" smtClean="0"/>
              <a:t>하다가 원하는 위치로 움직이는 것</a:t>
            </a:r>
            <a:r>
              <a:rPr lang="en-US" altLang="ko-KR" dirty="0" smtClean="0"/>
              <a:t>!</a:t>
            </a:r>
          </a:p>
          <a:p>
            <a:r>
              <a:rPr lang="ko-KR" altLang="en-US" dirty="0" smtClean="0"/>
              <a:t>원하는 </a:t>
            </a:r>
            <a:r>
              <a:rPr lang="en-US" altLang="ko-KR" dirty="0" smtClean="0"/>
              <a:t>set point </a:t>
            </a:r>
            <a:r>
              <a:rPr lang="en-US" altLang="ko-KR" dirty="0" err="1" smtClean="0"/>
              <a:t>positio</a:t>
            </a:r>
            <a:r>
              <a:rPr lang="ko-KR" altLang="en-US" dirty="0" smtClean="0"/>
              <a:t>을 주기 위하여 아래 </a:t>
            </a:r>
            <a:r>
              <a:rPr lang="ko-KR" altLang="en-US" dirty="0" err="1" smtClean="0"/>
              <a:t>블락을</a:t>
            </a:r>
            <a:r>
              <a:rPr lang="ko-KR" altLang="en-US" dirty="0" smtClean="0"/>
              <a:t> 추가 하였다</a:t>
            </a:r>
            <a:r>
              <a:rPr lang="en-US" altLang="ko-KR" dirty="0" smtClean="0"/>
              <a:t>. </a:t>
            </a:r>
          </a:p>
          <a:p>
            <a:r>
              <a:rPr lang="en-US" altLang="ko-KR" dirty="0" smtClean="0"/>
              <a:t>X, Y, Z </a:t>
            </a:r>
            <a:r>
              <a:rPr lang="ko-KR" altLang="en-US" dirty="0" smtClean="0"/>
              <a:t>좌표를 </a:t>
            </a:r>
            <a:r>
              <a:rPr lang="ko-KR" altLang="en-US" dirty="0" err="1" smtClean="0"/>
              <a:t>맵으로</a:t>
            </a:r>
            <a:r>
              <a:rPr lang="ko-KR" altLang="en-US" dirty="0" smtClean="0"/>
              <a:t> 만든 것이다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917584"/>
            <a:ext cx="10744200" cy="39624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783435" y="2877424"/>
            <a:ext cx="1409350" cy="10318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593543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1145" y="394636"/>
            <a:ext cx="10930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asbQuadcopter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sensor fusion</a:t>
            </a:r>
            <a:r>
              <a:rPr lang="ko-KR" altLang="en-US" dirty="0" smtClean="0"/>
              <a:t>이 생각보다 성능이 좋지 않아</a:t>
            </a:r>
            <a:endParaRPr lang="en-US" altLang="ko-KR" dirty="0" smtClean="0"/>
          </a:p>
          <a:p>
            <a:r>
              <a:rPr lang="ko-KR" altLang="en-US" dirty="0" smtClean="0"/>
              <a:t>간단하게 </a:t>
            </a:r>
            <a:r>
              <a:rPr lang="en-US" altLang="ko-KR" dirty="0" smtClean="0"/>
              <a:t>signal processing</a:t>
            </a:r>
            <a:r>
              <a:rPr lang="ko-KR" altLang="en-US" dirty="0" smtClean="0"/>
              <a:t>을 하였다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시간이 되면 </a:t>
            </a:r>
            <a:r>
              <a:rPr lang="en-US" altLang="ko-KR" dirty="0" smtClean="0"/>
              <a:t>sensor fusion</a:t>
            </a:r>
            <a:r>
              <a:rPr lang="ko-KR" altLang="en-US" dirty="0" smtClean="0"/>
              <a:t>도 직접 해볼 생각이다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17966"/>
            <a:ext cx="10744200" cy="39624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440659" y="3299166"/>
            <a:ext cx="2093491" cy="8572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47" y="4602129"/>
            <a:ext cx="4024312" cy="13564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오른쪽 화살표 5"/>
          <p:cNvSpPr/>
          <p:nvPr/>
        </p:nvSpPr>
        <p:spPr>
          <a:xfrm rot="19714516">
            <a:off x="4242643" y="4053195"/>
            <a:ext cx="790575" cy="4381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07770" y="5966761"/>
            <a:ext cx="4032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유효하지 않은 값이 들어왔을 때 무시</a:t>
            </a:r>
            <a:endParaRPr lang="en-US" altLang="ko-KR" dirty="0" smtClean="0"/>
          </a:p>
          <a:p>
            <a:r>
              <a:rPr lang="ko-KR" altLang="en-US" dirty="0" smtClean="0"/>
              <a:t>좋은 방법은 아니다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5067" y="5105728"/>
            <a:ext cx="5030307" cy="10939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오른쪽 화살표 9"/>
          <p:cNvSpPr/>
          <p:nvPr/>
        </p:nvSpPr>
        <p:spPr>
          <a:xfrm rot="13882018">
            <a:off x="5790961" y="4446231"/>
            <a:ext cx="1486379" cy="4381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6408520" y="6176311"/>
            <a:ext cx="4032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엄청 간단한 디지털 </a:t>
            </a:r>
            <a:r>
              <a:rPr lang="en-US" altLang="ko-KR" dirty="0" smtClean="0"/>
              <a:t>low pass filter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11043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1145" y="394636"/>
            <a:ext cx="109309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한가지 더 </a:t>
            </a:r>
            <a:r>
              <a:rPr lang="ko-KR" altLang="en-US" dirty="0" err="1" smtClean="0"/>
              <a:t>수정한건</a:t>
            </a:r>
            <a:endParaRPr lang="en-US" altLang="ko-KR" dirty="0" smtClean="0"/>
          </a:p>
          <a:p>
            <a:r>
              <a:rPr lang="en-US" altLang="ko-KR" dirty="0" err="1"/>
              <a:t>asbQuadcopter</a:t>
            </a:r>
            <a:r>
              <a:rPr lang="en-US" altLang="ko-KR" dirty="0"/>
              <a:t>/FCS (</a:t>
            </a:r>
            <a:r>
              <a:rPr lang="en-US" altLang="ko-KR" dirty="0" err="1"/>
              <a:t>flightControlSystem</a:t>
            </a:r>
            <a:r>
              <a:rPr lang="en-US" altLang="ko-KR" dirty="0"/>
              <a:t>)/Flight Control System/estimator (</a:t>
            </a:r>
            <a:r>
              <a:rPr lang="en-US" altLang="ko-KR" dirty="0" err="1"/>
              <a:t>stateEstimator</a:t>
            </a:r>
            <a:r>
              <a:rPr lang="en-US" altLang="ko-KR" dirty="0"/>
              <a:t>)/State </a:t>
            </a:r>
            <a:r>
              <a:rPr lang="en-US" altLang="ko-KR" dirty="0" smtClean="0"/>
              <a:t>Estimator/</a:t>
            </a:r>
            <a:r>
              <a:rPr lang="en-US" altLang="ko-KR" dirty="0" err="1" smtClean="0"/>
              <a:t>EstimatorAltitude</a:t>
            </a:r>
            <a:r>
              <a:rPr lang="ko-KR" altLang="en-US" dirty="0" smtClean="0"/>
              <a:t>에서</a:t>
            </a:r>
            <a:endParaRPr lang="en-US" altLang="ko-KR" dirty="0" smtClean="0"/>
          </a:p>
          <a:p>
            <a:r>
              <a:rPr lang="ko-KR" altLang="en-US" dirty="0" smtClean="0"/>
              <a:t>높이</a:t>
            </a:r>
            <a:r>
              <a:rPr lang="en-US" altLang="ko-KR" dirty="0" smtClean="0"/>
              <a:t>(z)</a:t>
            </a:r>
            <a:r>
              <a:rPr lang="ko-KR" altLang="en-US" dirty="0" smtClean="0"/>
              <a:t>를 적분하는 </a:t>
            </a:r>
            <a:r>
              <a:rPr lang="ko-KR" altLang="en-US" dirty="0" err="1" smtClean="0"/>
              <a:t>옵저버의</a:t>
            </a:r>
            <a:r>
              <a:rPr lang="ko-KR" altLang="en-US" dirty="0" smtClean="0"/>
              <a:t> </a:t>
            </a:r>
            <a:r>
              <a:rPr lang="en-US" altLang="ko-KR" dirty="0" smtClean="0"/>
              <a:t>G, H matrix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default</a:t>
            </a:r>
            <a:r>
              <a:rPr lang="ko-KR" altLang="en-US" dirty="0" smtClean="0"/>
              <a:t>값으로 하였다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499112"/>
            <a:ext cx="9534525" cy="522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631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1145" y="394636"/>
            <a:ext cx="10930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Simulink </a:t>
            </a:r>
            <a:r>
              <a:rPr lang="ko-KR" altLang="en-US" dirty="0" smtClean="0"/>
              <a:t>모델은</a:t>
            </a:r>
            <a:r>
              <a:rPr lang="en-US" altLang="ko-KR" dirty="0" smtClean="0"/>
              <a:t> commit</a:t>
            </a:r>
            <a:r>
              <a:rPr lang="ko-KR" altLang="en-US" dirty="0" smtClean="0"/>
              <a:t>하지 않았다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필요하거나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궁금한게</a:t>
            </a:r>
            <a:r>
              <a:rPr lang="ko-KR" altLang="en-US" dirty="0" smtClean="0"/>
              <a:t> </a:t>
            </a:r>
            <a:r>
              <a:rPr lang="ko-KR" altLang="en-US" dirty="0" smtClean="0"/>
              <a:t>있으면 </a:t>
            </a:r>
            <a:r>
              <a:rPr lang="en-US" altLang="ko-KR" dirty="0" smtClean="0">
                <a:hlinkClick r:id="rId2"/>
              </a:rPr>
              <a:t>hbkdk83@gmail.com</a:t>
            </a:r>
            <a:r>
              <a:rPr lang="ko-KR" altLang="en-US" dirty="0" smtClean="0"/>
              <a:t>으로 메일 주세요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26753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</TotalTime>
  <Words>1139</Words>
  <Application>Microsoft Office PowerPoint</Application>
  <PresentationFormat>와이드스크린</PresentationFormat>
  <Paragraphs>162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맑은 고딕</vt:lpstr>
      <vt:lpstr>Arial</vt:lpstr>
      <vt:lpstr>Cambria Math</vt:lpstr>
      <vt:lpstr>Courier New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MOON JIHYE</cp:lastModifiedBy>
  <cp:revision>98</cp:revision>
  <dcterms:created xsi:type="dcterms:W3CDTF">2020-04-18T08:51:50Z</dcterms:created>
  <dcterms:modified xsi:type="dcterms:W3CDTF">2020-08-11T06:27:44Z</dcterms:modified>
</cp:coreProperties>
</file>